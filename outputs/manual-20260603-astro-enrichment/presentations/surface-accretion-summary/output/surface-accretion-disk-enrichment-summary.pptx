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ef0f538744b44" /><Relationship Type="http://schemas.openxmlformats.org/officeDocument/2006/relationships/extended-properties" Target="/docProps/app.xml" Id="R9a05def0d5c74c2a" /><Relationship Type="http://schemas.openxmlformats.org/officeDocument/2006/relationships/officeDocument" Target="/ppt/presentation.xml" Id="R4591018911b7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cd6ac266b47c9"/>
  </p:sldMasterIdLst>
  <p:notesMasterIdLst>
    <p:notesMasterId xmlns:r="http://schemas.openxmlformats.org/officeDocument/2006/relationships" r:id="R588f2de57b5d47fd"/>
  </p:notesMasterIdLst>
  <p:sldIdLst>
    <p:sldId xmlns:r="http://schemas.openxmlformats.org/officeDocument/2006/relationships" id="256" r:id="R7d665dc6ae2643d4"/>
    <p:sldId xmlns:r="http://schemas.openxmlformats.org/officeDocument/2006/relationships" id="257" r:id="R1de80193cdc24c99"/>
    <p:sldId xmlns:r="http://schemas.openxmlformats.org/officeDocument/2006/relationships" id="258" r:id="R5911f4836c404402"/>
    <p:sldId xmlns:r="http://schemas.openxmlformats.org/officeDocument/2006/relationships" id="259" r:id="R5cebb40244cc4aff"/>
    <p:sldId xmlns:r="http://schemas.openxmlformats.org/officeDocument/2006/relationships" id="260" r:id="R237d3ec5e826418a"/>
    <p:sldId xmlns:r="http://schemas.openxmlformats.org/officeDocument/2006/relationships" id="261" r:id="Ra63b55b4ec0c4bbf"/>
    <p:sldId xmlns:r="http://schemas.openxmlformats.org/officeDocument/2006/relationships" id="262" r:id="Re858c011bae047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cd6ac266b47c9" /><Relationship Type="http://schemas.openxmlformats.org/officeDocument/2006/relationships/theme" Target="/ppt/theme/theme1.xml" Id="R482735231e8b4d08" /><Relationship Type="http://schemas.openxmlformats.org/officeDocument/2006/relationships/notesMaster" Target="/ppt/notesMasters/notesMaster1.xml" Id="R588f2de57b5d47fd" /><Relationship Type="http://schemas.openxmlformats.org/officeDocument/2006/relationships/presProps" Target="/ppt/presProps.xml" Id="R7901e1214c8d4303" /><Relationship Type="http://schemas.openxmlformats.org/officeDocument/2006/relationships/viewProps" Target="/ppt/viewProps.xml" Id="R91f07e552797465e" /><Relationship Type="http://schemas.openxmlformats.org/officeDocument/2006/relationships/tableStyles" Target="/ppt/tableStyles.xml" Id="Rd49c795d1e55428e" /><Relationship Type="http://schemas.openxmlformats.org/officeDocument/2006/relationships/slide" Target="/ppt/slides/slide1.xml" Id="R7d665dc6ae2643d4" /><Relationship Type="http://schemas.openxmlformats.org/officeDocument/2006/relationships/slide" Target="/ppt/slides/slide2.xml" Id="R1de80193cdc24c99" /><Relationship Type="http://schemas.openxmlformats.org/officeDocument/2006/relationships/slide" Target="/ppt/slides/slide3.xml" Id="R5911f4836c404402" /><Relationship Type="http://schemas.openxmlformats.org/officeDocument/2006/relationships/slide" Target="/ppt/slides/slide4.xml" Id="R5cebb40244cc4aff" /><Relationship Type="http://schemas.openxmlformats.org/officeDocument/2006/relationships/slide" Target="/ppt/slides/slide5.xml" Id="R237d3ec5e826418a" /><Relationship Type="http://schemas.openxmlformats.org/officeDocument/2006/relationships/slide" Target="/ppt/slides/slide6.xml" Id="Ra63b55b4ec0c4bbf" /><Relationship Type="http://schemas.openxmlformats.org/officeDocument/2006/relationships/slide" Target="/ppt/slides/slide7.xml" Id="Re858c011bae0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a2968a5487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614a8b4c6478e" /><Relationship Type="http://schemas.openxmlformats.org/officeDocument/2006/relationships/notesMaster" Target="/ppt/notesMasters/notesMaster1.xml" Id="R262e0cfb69c1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cdeb793ec4802" /><Relationship Type="http://schemas.openxmlformats.org/officeDocument/2006/relationships/notesMaster" Target="/ppt/notesMasters/notesMaster1.xml" Id="R3dcfb375bf75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0da1c5ec14cf3" /><Relationship Type="http://schemas.openxmlformats.org/officeDocument/2006/relationships/notesMaster" Target="/ppt/notesMasters/notesMaster1.xml" Id="Re7c41d47bfc64c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c8ea96ee8a4075" /><Relationship Type="http://schemas.openxmlformats.org/officeDocument/2006/relationships/notesMaster" Target="/ppt/notesMasters/notesMaster1.xml" Id="R8e745c5d8c6942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32c7ed218482c" /><Relationship Type="http://schemas.openxmlformats.org/officeDocument/2006/relationships/notesMaster" Target="/ppt/notesMasters/notesMaster1.xml" Id="Rfa3bd98531a041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2923194d0644ac" /><Relationship Type="http://schemas.openxmlformats.org/officeDocument/2006/relationships/notesMaster" Target="/ppt/notesMasters/notesMaster1.xml" Id="R4483038ccb2c44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415a23fc4645cf" /><Relationship Type="http://schemas.openxmlformats.org/officeDocument/2006/relationships/notesMaster" Target="/ppt/notesMasters/notesMaster1.xml" Id="R2cf9204fedfe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ae453465a41b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0868889dfa4e56" /><Relationship Type="http://schemas.openxmlformats.org/officeDocument/2006/relationships/slideLayout" Target="/ppt/slideLayouts/slideLayout2.xml" Id="R7816ca3506b3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16ca3506b3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d96c67f8f42b1" /><Relationship Type="http://schemas.openxmlformats.org/officeDocument/2006/relationships/notesSlide" Target="/ppt/notesSlides/notesSlide1.xml" Id="Rb7a814980d97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6c5804aeee46e7" /><Relationship Type="http://schemas.openxmlformats.org/officeDocument/2006/relationships/image" Target="/ppt/media/image.png" Id="R7874495b059c44fe" /><Relationship Type="http://schemas.openxmlformats.org/officeDocument/2006/relationships/notesSlide" Target="/ppt/notesSlides/notesSlide2.xml" Id="R56970ec2179147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5318e332940f6" /><Relationship Type="http://schemas.openxmlformats.org/officeDocument/2006/relationships/notesSlide" Target="/ppt/notesSlides/notesSlide3.xml" Id="R15c9542ddead4d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8e5c651fd46c4" /><Relationship Type="http://schemas.openxmlformats.org/officeDocument/2006/relationships/image" Target="/ppt/media/image2.png" Id="Rea24edf86cf64036" /><Relationship Type="http://schemas.openxmlformats.org/officeDocument/2006/relationships/notesSlide" Target="/ppt/notesSlides/notesSlide4.xml" Id="R948e0dbac5cc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58fc2e31d14d71" /><Relationship Type="http://schemas.openxmlformats.org/officeDocument/2006/relationships/image" Target="/ppt/media/image3.png" Id="R663761d519ef426b" /><Relationship Type="http://schemas.openxmlformats.org/officeDocument/2006/relationships/notesSlide" Target="/ppt/notesSlides/notesSlide5.xml" Id="Rbd0efb2b68ce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77b0c8394480b" /><Relationship Type="http://schemas.openxmlformats.org/officeDocument/2006/relationships/image" Target="/ppt/media/image4.png" Id="R364427bd809e4134" /><Relationship Type="http://schemas.openxmlformats.org/officeDocument/2006/relationships/notesSlide" Target="/ppt/notesSlides/notesSlide6.xml" Id="R276e31ab61ff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a7a6a246d4bb9" /><Relationship Type="http://schemas.openxmlformats.org/officeDocument/2006/relationships/notesSlide" Target="/ppt/notesSlides/notesSlide7.xml" Id="R9ba9f537b45244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ED5BF-268E-4925-9A5F-98024DB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9E38A-C111-409D-A7DD-F1FBADB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12A5F-C816-46D3-8420-7D28E550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EE09E-0A27-4821-942F-9F4C668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表面吸积盘中的重元素富集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DFD89-1ADF-4C9E-A5E6-797A59A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论文速览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A9005-4026-438C-93FC-21B6DAA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C246-4775-45FA-836D-AA67F8AD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8763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一种解释气态系外行星质量-金属丰度反相关的新盘演化图像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9E187-4141-4511-B32D-9EBC5999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D6D0"/>
                </a:solidFill>
                <a:latin typeface="Arial"/>
                <a:ea typeface="Arial"/>
                <a:cs typeface="Arial"/>
              </a:defRPr>
            </a:pPr>
            <a:r>
              <a:t>核心命题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2AFE-90E8-4B3A-AA99-2FB0CB73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85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当磁盘风主要从盘表面移除气体，而脆弱冰尘埃沉降在中平面并缓慢漂移时，雪线外的冰/气比会升高；这些冰尘埃穿越雪线升华后，可以显著富集内盘水汽与重元素。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8B5FB-F572-4599-9BC9-3C8970D7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0289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C6AFE-C23F-4F5A-A943-9B3BDAD4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076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8ABAB-6995-4FA1-962F-478D2DF7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43125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机制关键词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B95DD-DDB9-4D63-859F-75728301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MHD 风驱动表面吸积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1A4F1-99CF-47E9-A8FA-0E44917E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脆弱冰尘埃慢漂移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8B235-2E36-4891-9A3B-2D764BF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水雪线内 H2O 水汽增强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FDC73-DF45-4B1F-90F9-422AD58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低质量巨行星更高金属丰度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70767-D15C-4DEE-AF79-340860C6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6308C-BD86-4712-8837-4FA2D09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32143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1321C-97C4-4E3D-91D5-8819FD4C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3177C-CCDA-4BC1-8D69-FCE2FA0F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5F622-2F59-4272-A79F-5DD2E610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B9F05-C636-46F8-B45C-80198306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科学背景：巨行星大气金属丰度不是恒星值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7AB62-0D4A-48F7-882C-3DB0C18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1265F-27DE-430F-8304-5261C0E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DB908-056B-484E-A974-767C364C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4483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4495b059c44fe"/>
          <a:stretch xmlns:a="http://schemas.openxmlformats.org/drawingml/2006/main"/>
        </p:blipFill>
        <p:spPr>
          <a:xfrm xmlns:a="http://schemas.openxmlformats.org/drawingml/2006/main">
            <a:off x="704850" y="1562100"/>
            <a:ext cx="5257800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4EBB8-82C3-46B2-BECA-2B25462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29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1  热/暖巨行星大气氧丰度与行星质量的反相关趋势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46E4A-D403-4C08-AE71-68907F5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572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E771-045B-455A-B27C-30DE2493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907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t>观测事实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B5DD6-F766-4E50-864C-1BE3E0EE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D3394-E92D-4B3E-A0AE-E6A981ED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43150"/>
            <a:ext cx="350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许多气态巨行星大气呈超恒星金属丰度，部分高出宿主恒星一个数量级以上。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877C1-BDF8-4CA2-ACF1-F383D42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72FC5-55B6-4BE7-BB7A-6285796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350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氧丰度与行星质量呈反相关：低质量热/暖巨行星更容易表现为高金属丰度。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1EAAB-D661-4353-B77F-CB7973FA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A5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D2482-6460-4C0C-92BC-DE95802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350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若形成中的巨行星吸积了富水汽内盘气体，其大气会继承这种重元素增强。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282AE-B6BB-40E9-9C4D-CBE9ADA0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3657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问题转向：原行星盘怎样把气体做成“富金属”？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CFCF7-C823-45C6-B01D-0272C219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F4B42-0ADB-40D7-9444-4DDEC032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3901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A430B-39E1-4983-B276-7B6484A7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DB3D9-EE30-4D9A-B439-EF0B590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F498F-8FBE-4DCC-BEFC-77A7E4A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A77E8-6D5A-4E47-BF9E-C6570757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关键科学问题：慢漂移冰尘埃还能富集内盘吗？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8AFD4-80F9-4578-BB66-555E23F2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问题定义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AF240-844D-43A9-9907-434E41C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F528E-AAB6-4BBC-9C34-A0B6A12C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83E68-E1BE-489A-9FE4-8A6EE8E0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DFB9-AC4D-4A1D-8135-02D5C659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9775"/>
            <a:ext cx="1581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传统图像的张力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55215-FBC5-4320-B1B5-829141A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C3AE0-BCEC-4598-9A79-F3EB665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3390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过去模型依赖冰质卵石高效长大、快速内漂，并在雪线内升华释放 H2O。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92236-290D-4A66-9215-E26B24D3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150D8-E550-4F2C-BEA9-EC62F502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86150"/>
            <a:ext cx="3390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但近期盘观测和实验指向低温冰尘埃更脆弱，黏结阈值速度低，尺寸小、漂移慢。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BF582-C171-44E7-BA46-E44CC6C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3283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F76F8-65D2-4395-AABE-2479F89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0EE8C-A372-4404-A055-8CAD94D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9775"/>
            <a:ext cx="139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本文要回答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34DD0-E381-45A4-A2CA-CED7F4E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4DEBF-54FE-489C-9D91-1A2D6246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09850"/>
            <a:ext cx="3467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如果冰尘埃漂移慢，是否仍能让雪线内气体显著富水汽？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3C2AA-BD57-4F9A-9097-26AA2E97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B8D22-BCD8-4649-A1F2-44D0C25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3467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这种盘气体富集是否能自然产生类似行星质量-金属丰度反相关的趋势？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34E80-2913-4860-BC27-FEAA365D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895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关键假设变化：不是让尘埃更快，而是让气体从尘埃上方更快流失。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7B284-F41F-4D41-807C-9120BB5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866F9-E3E2-457E-94D8-3DD34B14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9684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93C2F-F564-49C8-BAB9-707EEC7E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E5F30-82CB-404B-AF99-FDA589A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5999-26D4-42E3-B1D4-CA0DD30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884D6-761B-4DDC-B032-A1E2C951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研究方法：比较两种吸积垂直结构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AD830-579E-40D7-8F86-19358304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ABC85-DAE6-4563-8EC2-47B1A20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AA6EA-8919-4316-AB15-8B7BDF3B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5334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4edf86cf64036"/>
          <a:stretch xmlns:a="http://schemas.openxmlformats.org/drawingml/2006/main"/>
        </p:blipFill>
        <p:spPr>
          <a:xfrm xmlns:a="http://schemas.openxmlformats.org/drawingml/2006/main">
            <a:off x="723900" y="1581150"/>
            <a:ext cx="5143500" cy="3600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5C89F-E508-4507-81D4-F30D365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2  均匀吸积与表面吸积下气体和尘埃输运的差异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B4FD4-FE83-422E-A911-10E3D9A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572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7F9BE-D2F1-46D6-985B-D040FAE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t>一维气体-尘埃-H2O 演化模型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FFBA0-4947-48BD-B55D-0DF18F9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23EEE-EC78-429B-99D6-BDF5CB3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3295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同时演化气体、尘埃和 H2O 表面密度。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0F4F5-365A-42D3-B09D-A0E79996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08246-4179-49AB-A4B1-0D5BE53C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3295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包含径向输运、湍流扩散、尘埃碰撞生长/破碎，以及水冰升华/凝结。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71E63-538C-4A1F-BE8B-9926A84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A5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3DF97-A49B-49E2-A4CB-EB36BF4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3295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基准脆弱冰尘埃：vstick = 0.3 m/s；对照模型使用 1 m/s。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493AC-59F4-4CAA-8C14-0710B683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3695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核心差异：表面吸积移除气体，但难以直接带走沉降到中平面的冰尘埃。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8B626-C33C-449B-A6FD-38E1C5F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1D7A6-A109-447A-88B4-EE64C76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31313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172EF-CE3B-48ED-B504-474B1E0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33BA9-2F87-48F9-BE08-CBFACE0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146C-C7C4-4F9C-8ED0-0B9DD98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C8D99-FA99-4062-BFD4-3C29E4F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研究结论 I：表面吸积让内盘水汽富集强一个数量级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BCB54-8FEC-451A-B7C2-62D9BFC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098E4-F322-46B0-B592-9C0B732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AB668-537E-4D51-A049-5689BB13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5722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761d519ef426b"/>
          <a:stretch xmlns:a="http://schemas.openxmlformats.org/drawingml/2006/main"/>
        </p:blipFill>
        <p:spPr>
          <a:xfrm xmlns:a="http://schemas.openxmlformats.org/drawingml/2006/main">
            <a:off x="742950" y="1543050"/>
            <a:ext cx="6381750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D4E4D-F045-4F51-93FC-89D1BF2D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641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3  雪线内水汽浓度演化：左为均匀吸积，右为表面吸积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D080-55B7-4BBA-9D83-7E78BC8B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66850"/>
            <a:ext cx="3429000" cy="41719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82169-0293-4F12-8E95-DAB06A81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t>对比结果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EF685-0EFA-408F-B93C-B50B918A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7F6B"/>
                </a:solidFill>
                <a:latin typeface="Arial"/>
                <a:ea typeface="Arial"/>
                <a:cs typeface="Arial"/>
              </a:defRPr>
            </a:pPr>
            <a:r>
              <a:t>均匀吸积盘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3191D-A0B1-4EE3-AC83-67B8970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705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脆弱尘埃漂移慢，穿越雪线的冰通量有限；内盘水汽浓度约在 2 Myr 达到 2 wt%。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868D8-6F74-49DE-83F0-DF0539D8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D6D0"/>
                </a:solidFill>
                <a:latin typeface="Arial"/>
                <a:ea typeface="Arial"/>
                <a:cs typeface="Arial"/>
              </a:defRPr>
            </a:pPr>
            <a:r>
              <a:t>表面吸积盘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D2669-B0E9-4056-8593-4C7D35B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27051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气体被选择性移除，冰尘埃相对保留；雪线内水汽浓度约在 3.5 Myr 达到 15 wt%。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A2634-F16B-4563-A506-0D267511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70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t>慢漂移从“缺陷”变成了“保留冰库”的条件。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C6DC7-3C95-48F5-A7CD-7910E95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E46D4-4A3E-4E0E-B780-B6696BD7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94154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C7DBE-1D6B-4B5C-B67B-0D79A5F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9981C-553F-4A72-BC3E-99450E4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55222-ADCA-4B0B-B7AA-2F7154A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A2CD2-CC78-4CAC-A8A6-0B504AB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研究结论 II：富集程度随剩余气体质量下降而升高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AFAED-07D0-4183-9AAE-DA22AF2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AC34F-FCCE-4C20-B4DC-B682095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607AB-D7CB-4B5A-8CB0-0E4518E9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676650" cy="41719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19F93-1A7E-4414-91C1-FE16F9B0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95D"/>
                </a:solidFill>
                <a:latin typeface="Arial"/>
                <a:ea typeface="Arial"/>
                <a:cs typeface="Arial"/>
              </a:defRPr>
            </a:pPr>
            <a:r>
              <a:t>核心趋势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46C77-3D3E-4C59-8302-D82F7D22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8765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在脆弱尘埃模型中，均匀吸积盘的水汽富集很快进入数倍平台；表面吸积盘则随着盘气体质量下降持续增强，直到冰尘埃被耗尽。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BEB03-790C-4003-9089-74EF04E4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2876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D6D0"/>
                </a:solidFill>
                <a:latin typeface="Arial"/>
                <a:ea typeface="Arial"/>
                <a:cs typeface="Arial"/>
              </a:defRPr>
            </a:pPr>
            <a:r>
              <a:t>Mg ↓  →  Zgas 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29AD3-834E-4A28-896A-C702631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87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若行星最终质量与剩余可吸积气体量相关，这一关系可转化为 Mp ↓ → Zatm 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98B45-63A0-4B6F-BF7C-00DDA95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47800"/>
            <a:ext cx="63246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427bd809e4134"/>
          <a:stretch xmlns:a="http://schemas.openxmlformats.org/drawingml/2006/main"/>
        </p:blipFill>
        <p:spPr>
          <a:xfrm xmlns:a="http://schemas.openxmlformats.org/drawingml/2006/main">
            <a:off x="4933950" y="1543050"/>
            <a:ext cx="6134100" cy="3981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B70EF-680A-427F-B897-30D0EA60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15000"/>
            <a:ext cx="6172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Fig. 4  内盘 H2O 富集因子与剩余盘气体质量的关系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8AD3E-9F29-4D8F-A597-90F0375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37C7D-D876-41DE-A24D-818AA31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98570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E0DBA-CC38-4718-876D-E528B8E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B63F8-D501-4920-93E8-3CC9EA84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E7BDB-ECEC-4729-9B6B-A94B220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D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FB941-0159-48A7-864B-C009A5E1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09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科学意义：把盘吸积结构、尘埃物理和行星大气连接起来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12F97-DA1B-41DE-99DB-A3008B0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t>讨论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574D2-2051-4531-AB11-6A5E7C4D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DA142-A640-4BD2-BBCB-10D6D3FD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57550" cy="35814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BE62B-7E68-4D89-8048-AA165E4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267B0-2F88-4435-BA26-E6D1300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9775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新解释路径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50EFB-962B-497F-9CC1-382314A4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E24D1-8ED9-45FE-9D4C-34EA418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不再要求冰质卵石必须快速漂移。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7C7D0-9CCA-4018-BF90-D88E1A9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FBCB5-3316-477A-B01B-7D0B2A70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MHD 风驱动表面吸积可自然造成气体与固体分馏。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9CEAE-91D5-4F4D-A2B3-51F9FFA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D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0DF5D-7926-4F06-BE4F-2A6A06FF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内盘富水汽气体为巨行星大气高金属丰度提供来源。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36A1E-8BF2-4BB3-8312-F4570F66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57550" cy="35814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3283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790F8-830F-4DBD-A683-21B3C94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C40A2-758A-4699-9984-5B56D82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9775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观测联系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492A7-ABF8-4CF0-8B3D-BE43843A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24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1B61C-18DA-4866-8255-4FACF09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解释低质量气态行星更高氧丰度/金属丰度的定性趋势。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8D695-1D2B-4358-A456-E90FA628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81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EFFFC-59F9-472E-8519-FEFFEBF0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052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JWST 内盘分子谱线观测可检验水汽富集与卵石漂移迹象。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59AEA-F2D4-4A7B-9648-DB5A82CB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38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83BD0-B3E8-4718-9B80-5FDFE417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盘环隙、尘埃陷阱会改变冰尘埃供应，需要纳入比较。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403EA-1CC2-456F-9103-F2DD8B3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57550" cy="35814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2133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E8F21-910C-4C76-894C-3837F21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5C3B8-046B-49CF-A461-FD95F1C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9775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11D"/>
                </a:solidFill>
                <a:latin typeface="Arial"/>
                <a:ea typeface="Arial"/>
                <a:cs typeface="Arial"/>
              </a:defRPr>
            </a:pPr>
            <a:r>
              <a:t>理论下一步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2D5E8-915F-42E7-83B8-7521D4EE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B0891-C0E0-4941-AD8E-E89794D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把该盘化学富集模型接入行星形成与气体吸积计算。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D1653-0873-44EE-9531-FFCDF81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0C047-3CBD-4BDC-9B05-07426DA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052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处理红外观测主要追踪盘表层、而尘埃富集发生在中平面的差异。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8F135-633D-4172-9DD2-B46C961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3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7F6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6C12B-0F5E-429C-9F24-BEAECE1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207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定量检验是否能复现实测质量-金属丰度斜率和离散度。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B0FB6-D5E1-4AB6-8CBE-5472D8F4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F6FF"/>
                </a:solidFill>
                <a:latin typeface="Arial"/>
                <a:ea typeface="Arial"/>
                <a:cs typeface="Arial"/>
              </a:defRPr>
            </a:pPr>
            <a:r>
              <a:t>一句话结论：表面吸积让“脆弱慢漂移冰尘埃”成为内盘重元素富集的有效来源。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D3D0E-3113-4EC9-9A3E-ECF9CDF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Ikeda, Ohno &amp; Okuzumi | Surface-accretion disk enrichment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C8CD6-B466-4E59-87C8-2DC58D8F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8398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5153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2026-06-03T07:06:11.2540000Z</dcterms:created>
  <dcterms:modified xsi:type="dcterms:W3CDTF">2026-06-03T07:06:11.2540000Z</dcterms:modified>
</coreProperties>
</file>